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9" r:id="rId7"/>
    <p:sldId id="265" r:id="rId8"/>
    <p:sldId id="270" r:id="rId9"/>
    <p:sldId id="259" r:id="rId10"/>
    <p:sldId id="267" r:id="rId11"/>
    <p:sldId id="271" r:id="rId12"/>
    <p:sldId id="272" r:id="rId13"/>
    <p:sldId id="266" r:id="rId14"/>
    <p:sldId id="260" r:id="rId15"/>
    <p:sldId id="262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 Sirpuri" userId="664aaa313c1f5cfc" providerId="LiveId" clId="{3B10A5D7-0E2D-494A-8D6B-4F83A0972900}"/>
    <pc:docChg chg="modSld">
      <pc:chgData name="Harshith Sirpuri" userId="664aaa313c1f5cfc" providerId="LiveId" clId="{3B10A5D7-0E2D-494A-8D6B-4F83A0972900}" dt="2026-10-01T05:43:25.715" v="61" actId="20577"/>
      <pc:docMkLst>
        <pc:docMk/>
      </pc:docMkLst>
      <pc:sldChg chg="modSp mod">
        <pc:chgData name="Harshith Sirpuri" userId="664aaa313c1f5cfc" providerId="LiveId" clId="{3B10A5D7-0E2D-494A-8D6B-4F83A0972900}" dt="2026-10-01T05:43:25.715" v="61" actId="20577"/>
        <pc:sldMkLst>
          <pc:docMk/>
          <pc:sldMk cId="0" sldId="256"/>
        </pc:sldMkLst>
        <pc:spChg chg="mod">
          <ac:chgData name="Harshith Sirpuri" userId="664aaa313c1f5cfc" providerId="LiveId" clId="{3B10A5D7-0E2D-494A-8D6B-4F83A0972900}" dt="2026-10-01T05:43:25.715" v="61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3802" y="587828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Parallel </a:t>
            </a:r>
            <a:r>
              <a:rPr lang="en-US" sz="4000" b="1" dirty="0" err="1">
                <a:solidFill>
                  <a:srgbClr val="C00000"/>
                </a:solidFill>
                <a:latin typeface="+mn-lt"/>
              </a:rPr>
              <a:t>TextHack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> Search Engine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83564" y="2927837"/>
            <a:ext cx="5598458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S.Harshith:2520030572</a:t>
            </a:r>
          </a:p>
          <a:p>
            <a:r>
              <a:rPr lang="en-US" dirty="0" err="1">
                <a:solidFill>
                  <a:srgbClr val="0070C0"/>
                </a:solidFill>
              </a:rPr>
              <a:t>M.Nityay</a:t>
            </a:r>
            <a:r>
              <a:rPr lang="en-US" dirty="0">
                <a:solidFill>
                  <a:srgbClr val="0070C0"/>
                </a:solidFill>
              </a:rPr>
              <a:t> Varma:2520030618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US" dirty="0">
                <a:solidFill>
                  <a:srgbClr val="0070C0"/>
                </a:solidFill>
              </a:rPr>
              <a:t>DR.CH.ANURADHA-Assistant Professor(CSE)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660E11-A459-17B9-F489-72DC04216F7C}"/>
              </a:ext>
            </a:extLst>
          </p:cNvPr>
          <p:cNvSpPr txBox="1"/>
          <p:nvPr/>
        </p:nvSpPr>
        <p:spPr>
          <a:xfrm>
            <a:off x="2201172" y="1004016"/>
            <a:ext cx="778965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search engine for searching large collections of text documents. Supports </a:t>
            </a:r>
            <a:r>
              <a:rPr lang="en-IN" b="1" dirty="0"/>
              <a:t>sequential and parallel searching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advanced string-matching algorithms such as: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KMP 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Z Algorithm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Rabin-Karp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Aho-</a:t>
            </a:r>
            <a:r>
              <a:rPr lang="en-IN" dirty="0" err="1"/>
              <a:t>Corasick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Supports multiple document formats: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TXT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PDF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DOCX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CSV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multiple threads to process document partitions simultaneously.  Combines partial results using </a:t>
            </a:r>
            <a:r>
              <a:rPr lang="en-IN" b="1" dirty="0"/>
              <a:t>parallel reduction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Evaluates: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Execution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Throughput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Speedup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Efficiency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AE55D-CA9A-948A-951A-20FFDCE5BAA8}"/>
              </a:ext>
            </a:extLst>
          </p:cNvPr>
          <p:cNvSpPr txBox="1"/>
          <p:nvPr/>
        </p:nvSpPr>
        <p:spPr>
          <a:xfrm>
            <a:off x="2518914" y="1859339"/>
            <a:ext cx="804844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Rapid growth of digital documents has increased the need for efficient searching.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Sequential search becomes expensive for large document collections.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String-matching algorithms improve search efficiency.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Parallel processing enables simultaneous document searching.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Our system provides both: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Sequential Search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Parallel Search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Performance is measured and compared.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EDBF7B-DC06-3874-9E79-4C8F138CD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816098"/>
              </p:ext>
            </p:extLst>
          </p:nvPr>
        </p:nvGraphicFramePr>
        <p:xfrm>
          <a:off x="905774" y="1587260"/>
          <a:ext cx="10448025" cy="43009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2675">
                  <a:extLst>
                    <a:ext uri="{9D8B030D-6E8A-4147-A177-3AD203B41FA5}">
                      <a16:colId xmlns:a16="http://schemas.microsoft.com/office/drawing/2014/main" val="3447683753"/>
                    </a:ext>
                  </a:extLst>
                </a:gridCol>
                <a:gridCol w="3482675">
                  <a:extLst>
                    <a:ext uri="{9D8B030D-6E8A-4147-A177-3AD203B41FA5}">
                      <a16:colId xmlns:a16="http://schemas.microsoft.com/office/drawing/2014/main" val="1509966678"/>
                    </a:ext>
                  </a:extLst>
                </a:gridCol>
                <a:gridCol w="3482675">
                  <a:extLst>
                    <a:ext uri="{9D8B030D-6E8A-4147-A177-3AD203B41FA5}">
                      <a16:colId xmlns:a16="http://schemas.microsoft.com/office/drawing/2014/main" val="4289714215"/>
                    </a:ext>
                  </a:extLst>
                </a:gridCol>
              </a:tblGrid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303950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Naive String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Character-by-character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time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00695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Prefix/LPS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Mainly single-pattern searching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675297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Rabin-Karp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Rolling 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Hash collisions require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518573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Aho-Corasick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Trie + failure links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 memory requirement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793935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Sequential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document at a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 for large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36660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Parallel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workers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Synchronization/reduction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533360"/>
                  </a:ext>
                </a:extLst>
              </a:tr>
              <a:tr h="52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 Engines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Indexing and ranking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Complex infrastructure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1060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EC31B-9AC3-CE54-737D-77E400FE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643080-351E-DE1D-BB02-EA81F2C7DB8B}"/>
              </a:ext>
            </a:extLst>
          </p:cNvPr>
          <p:cNvSpPr/>
          <p:nvPr/>
        </p:nvSpPr>
        <p:spPr>
          <a:xfrm>
            <a:off x="2588795" y="307938"/>
            <a:ext cx="7823288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9A137-C9EB-BF4D-C205-7A3F1FDC6285}"/>
              </a:ext>
            </a:extLst>
          </p:cNvPr>
          <p:cNvSpPr txBox="1"/>
          <p:nvPr/>
        </p:nvSpPr>
        <p:spPr>
          <a:xfrm>
            <a:off x="2706384" y="240399"/>
            <a:ext cx="7588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Survey-</a:t>
            </a:r>
            <a:r>
              <a:rPr lang="en-US" sz="3200" b="1" dirty="0" err="1">
                <a:solidFill>
                  <a:schemeClr val="bg1"/>
                </a:solidFill>
              </a:rPr>
              <a:t>Comparsion</a:t>
            </a:r>
            <a:r>
              <a:rPr lang="en-US" sz="3200" b="1" dirty="0">
                <a:solidFill>
                  <a:schemeClr val="bg1"/>
                </a:solidFill>
              </a:rPr>
              <a:t> Algorithm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675FB2-5D2A-A479-A49C-5935D1208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99575"/>
              </p:ext>
            </p:extLst>
          </p:nvPr>
        </p:nvGraphicFramePr>
        <p:xfrm>
          <a:off x="838200" y="1966823"/>
          <a:ext cx="10515600" cy="3268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2130365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30813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04984556"/>
                    </a:ext>
                  </a:extLst>
                </a:gridCol>
              </a:tblGrid>
              <a:tr h="484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645662"/>
                  </a:ext>
                </a:extLst>
              </a:tr>
              <a:tr h="484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0948064"/>
                  </a:ext>
                </a:extLst>
              </a:tr>
              <a:tr h="484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LPS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O(n+m)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711141"/>
                  </a:ext>
                </a:extLst>
              </a:tr>
              <a:tr h="484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 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Z-array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O(n+m)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169285"/>
                  </a:ext>
                </a:extLst>
              </a:tr>
              <a:tr h="484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Rabin-Karp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Rolling 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O(n+m)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3809224"/>
                  </a:ext>
                </a:extLst>
              </a:tr>
              <a:tr h="84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Aho-Corasick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Trie + failure links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O(n + total pattern length + matches)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59649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D8ECD4-8471-54E0-0E61-C2FC2FA2AF80}"/>
              </a:ext>
            </a:extLst>
          </p:cNvPr>
          <p:cNvSpPr txBox="1"/>
          <p:nvPr/>
        </p:nvSpPr>
        <p:spPr>
          <a:xfrm>
            <a:off x="838200" y="1437601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String Matching Algorithms:</a:t>
            </a:r>
          </a:p>
        </p:txBody>
      </p:sp>
    </p:spTree>
    <p:extLst>
      <p:ext uri="{BB962C8B-B14F-4D97-AF65-F5344CB8AC3E}">
        <p14:creationId xmlns:p14="http://schemas.microsoft.com/office/powerpoint/2010/main" val="2522316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E403F-22FE-C605-75B6-D086D0537594}"/>
              </a:ext>
            </a:extLst>
          </p:cNvPr>
          <p:cNvSpPr txBox="1"/>
          <p:nvPr/>
        </p:nvSpPr>
        <p:spPr>
          <a:xfrm>
            <a:off x="2967487" y="1475117"/>
            <a:ext cx="83072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 develop a search engine capable of efficiently searching large document collections using advanced string-matching algorithms and parallel processing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System should: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Accept large document collections.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 multiple document formats.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Search for one or more keywords.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Support sequential and parallel execution.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Partition documents among multiple threads.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Combine partial results using parallel reduction.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Rank matching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Measure search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Display graphical performance comparisons.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1D189-9C31-EC33-D0BE-61299CEB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D37295-4853-6F3E-B590-5A182ACFD0FB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A0C5C0-53FB-020F-44B5-62D5D1F4FF31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6437A-2C98-3A34-ED2A-827DAF8D629D}"/>
              </a:ext>
            </a:extLst>
          </p:cNvPr>
          <p:cNvSpPr txBox="1"/>
          <p:nvPr/>
        </p:nvSpPr>
        <p:spPr>
          <a:xfrm>
            <a:off x="2967487" y="1475117"/>
            <a:ext cx="830723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Objectives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Develop an efficient document search engine.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Implement advanced string-matching algorithms.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Support exact, phrase, multi-keyword, and fuzzy searching.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Implement sequential and parallel search modes.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Partition large datasets among processing threads.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Combine partial results using parallel reduction.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Measure execution time and throughput.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Calculate speedup and efficiency.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 err="1"/>
              <a:t>Analyze</a:t>
            </a:r>
            <a:r>
              <a:rPr lang="en-IN" dirty="0"/>
              <a:t> scalability with different thread counts.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Provide a user-friendly search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950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66110-6EC3-3623-7F9D-44439DF3EC4F}"/>
              </a:ext>
            </a:extLst>
          </p:cNvPr>
          <p:cNvSpPr txBox="1"/>
          <p:nvPr/>
        </p:nvSpPr>
        <p:spPr>
          <a:xfrm>
            <a:off x="2907102" y="1144192"/>
            <a:ext cx="81864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Algorithm Performance:</a:t>
            </a:r>
            <a:r>
              <a:rPr lang="en-IN" dirty="0"/>
              <a:t> Advanced string-matching techniques (KMP, Z-algorithm, Rabin-Karp, Aho-</a:t>
            </a:r>
            <a:r>
              <a:rPr lang="en-IN" dirty="0" err="1"/>
              <a:t>Corasick</a:t>
            </a:r>
            <a:r>
              <a:rPr lang="en-IN" dirty="0"/>
              <a:t>) demonstrate significant speedup over naive character-by-character matching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Parallel Execution Benefits:</a:t>
            </a:r>
            <a:r>
              <a:rPr lang="en-IN" dirty="0"/>
              <a:t> Parallel mode shows measurable reduction in execution time compared to sequential processing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Scalability Analysis:</a:t>
            </a:r>
            <a:r>
              <a:rPr lang="en-IN" dirty="0"/>
              <a:t> Performance improvement increases with additional threads up to optimal thread count, then plateaus due to overhead and resource contention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Throughput Metrics:</a:t>
            </a:r>
            <a:r>
              <a:rPr lang="en-IN" dirty="0"/>
              <a:t> System achieves higher documents-per-second throughput in parallel mode, with efficiency varying by document size and keyword complexity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Speedup Measurements:</a:t>
            </a:r>
            <a:r>
              <a:rPr lang="en-IN" dirty="0"/>
              <a:t> Speedup factor (sequential time / parallel time) demonstrates near-linear scaling for optimal thread counts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Result Ranking:</a:t>
            </a:r>
            <a:r>
              <a:rPr lang="en-IN" dirty="0"/>
              <a:t> Combined results from partitions are successfully ranked and presented to users with keyword occurrence counts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46CD-2D3D-6D07-BCA1-F6F602DF1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9634F-A98A-C0F6-6050-786C974EEDCC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1C122-5701-B180-E5EE-BDD0E43DBC78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593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A104-4155-811C-42D7-B3F3C2C0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632012-9E3E-492E-EF7B-BC75D425C6C1}"/>
              </a:ext>
            </a:extLst>
          </p:cNvPr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DAE02-8DDC-392C-B076-44310E3465BD}"/>
              </a:ext>
            </a:extLst>
          </p:cNvPr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8C0892-997E-293F-E126-AB6A429E6C17}"/>
              </a:ext>
            </a:extLst>
          </p:cNvPr>
          <p:cNvSpPr txBox="1"/>
          <p:nvPr/>
        </p:nvSpPr>
        <p:spPr>
          <a:xfrm>
            <a:off x="3312543" y="1483744"/>
            <a:ext cx="657332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Hardware Requirements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Minimum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Processor: Dual-core CPU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RAM: 8 GB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Storage: 10 GB free space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Internet connection for dependency installation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64-bit Windows system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Recommended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Processor: Intel Core i5 / AMD </a:t>
            </a:r>
            <a:r>
              <a:rPr lang="en-IN" dirty="0" err="1"/>
              <a:t>Ryzen</a:t>
            </a:r>
            <a:r>
              <a:rPr lang="en-IN" dirty="0"/>
              <a:t> 5 or better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16 GB RAM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SSD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4+ CPU cores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20 GB+ free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268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51545E-FFB8-92A6-E487-C8369C58D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617198"/>
              </p:ext>
            </p:extLst>
          </p:nvPr>
        </p:nvGraphicFramePr>
        <p:xfrm>
          <a:off x="2418271" y="1301333"/>
          <a:ext cx="8695428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47714">
                  <a:extLst>
                    <a:ext uri="{9D8B030D-6E8A-4147-A177-3AD203B41FA5}">
                      <a16:colId xmlns:a16="http://schemas.microsoft.com/office/drawing/2014/main" val="1725641199"/>
                    </a:ext>
                  </a:extLst>
                </a:gridCol>
                <a:gridCol w="4347714">
                  <a:extLst>
                    <a:ext uri="{9D8B030D-6E8A-4147-A177-3AD203B41FA5}">
                      <a16:colId xmlns:a16="http://schemas.microsoft.com/office/drawing/2014/main" val="3186625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231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Windows 10/11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29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 Environment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656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Java 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 and algorithms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9663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Apache Maven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Build and dependency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614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Boot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Backend REST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190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367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Node.js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 runtime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4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 package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6505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Version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23636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142487-44BE-9F34-3D8A-9415A46818A7}"/>
              </a:ext>
            </a:extLst>
          </p:cNvPr>
          <p:cNvSpPr txBox="1"/>
          <p:nvPr/>
        </p:nvSpPr>
        <p:spPr>
          <a:xfrm>
            <a:off x="1641182" y="882158"/>
            <a:ext cx="3241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Software Requirements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B7375-1E41-4E50-71D3-FD6E019C46BF}"/>
              </a:ext>
            </a:extLst>
          </p:cNvPr>
          <p:cNvSpPr txBox="1"/>
          <p:nvPr/>
        </p:nvSpPr>
        <p:spPr>
          <a:xfrm>
            <a:off x="1641182" y="5374536"/>
            <a:ext cx="59349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Libraries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Apache </a:t>
            </a:r>
            <a:r>
              <a:rPr lang="en-IN" sz="1200" dirty="0" err="1"/>
              <a:t>PDFBox</a:t>
            </a:r>
            <a:r>
              <a:rPr lang="en-IN" sz="1200" dirty="0"/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Apache POI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JUnit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Charting library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A7FE2-F803-C313-9F2C-44F5B5C8698C}"/>
              </a:ext>
            </a:extLst>
          </p:cNvPr>
          <p:cNvSpPr txBox="1"/>
          <p:nvPr/>
        </p:nvSpPr>
        <p:spPr>
          <a:xfrm>
            <a:off x="3047280" y="1305342"/>
            <a:ext cx="770985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Parallel </a:t>
            </a:r>
            <a:r>
              <a:rPr lang="en-IN" dirty="0" err="1"/>
              <a:t>TextHack</a:t>
            </a:r>
            <a:r>
              <a:rPr lang="en-IN" dirty="0"/>
              <a:t> Search Engine successfully demonstrates the integration of advanced algorithms, string processing, and parallel computation for efficient document search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Parallel processing provides substantial performance improvements over sequential search, with measurable speedup and throughput gains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Advanced string-matching algorithms significantly outperform naive approaches, reducing computational overhead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effectively handles large document collections while providing users with ranked, relevant search results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Performance analysis validates the effectiveness of parallelization strategy and identifies optimal thread configurations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5285F-592E-B6CB-13E1-F1ED8DAD5A6C}"/>
              </a:ext>
            </a:extLst>
          </p:cNvPr>
          <p:cNvSpPr txBox="1"/>
          <p:nvPr/>
        </p:nvSpPr>
        <p:spPr>
          <a:xfrm>
            <a:off x="1440612" y="1071555"/>
            <a:ext cx="960982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Distributed Computing:</a:t>
            </a:r>
            <a:r>
              <a:rPr lang="en-IN" sz="1600" dirty="0"/>
              <a:t> Extend parallel processing to distributed systems using frameworks like Apache Spark or Hadoop for handling massive document collections across multiple machines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GPU Acceleration:</a:t>
            </a:r>
            <a:r>
              <a:rPr lang="en-IN" sz="1600" dirty="0"/>
              <a:t> Leverage GPU computing for further performance improvements in pattern matching and document processing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Advanced Ranking:</a:t>
            </a:r>
            <a:r>
              <a:rPr lang="en-IN" sz="1600" dirty="0"/>
              <a:t> Implement machine learning-based ranking algorithms to improve result relevance beyond simple occurrence counting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Incremental Indexing:</a:t>
            </a:r>
            <a:r>
              <a:rPr lang="en-IN" sz="1600" dirty="0"/>
              <a:t> Add support for dynamic document collections with incremental indexing to avoid full re-processing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Query Optimization:</a:t>
            </a:r>
            <a:r>
              <a:rPr lang="en-IN" sz="1600" dirty="0"/>
              <a:t> Develop query optimization techniques to reduce search space and improve performance for complex multi-keyword searches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Scalability Testing:</a:t>
            </a:r>
            <a:r>
              <a:rPr lang="en-IN" sz="1600" dirty="0"/>
              <a:t> Conduct extensive testing with larger document collections and more processing threads to identify scalability limits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Real-world Applications:</a:t>
            </a:r>
            <a:r>
              <a:rPr lang="en-IN" sz="1600" dirty="0"/>
              <a:t> Deploy the system for practical use cases such as log file analysis, document management systems, or web search applications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909</Words>
  <Application>Microsoft Office PowerPoint</Application>
  <PresentationFormat>Widescreen</PresentationFormat>
  <Paragraphs>192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Times New Roman</vt:lpstr>
      <vt:lpstr>Wingdings</vt:lpstr>
      <vt:lpstr>Office Theme</vt:lpstr>
      <vt:lpstr>       Data Structures and Algorithms -3 (25CS2103E)  Parallel TextHack Search Engine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Harshith Sirpuri</cp:lastModifiedBy>
  <cp:revision>20</cp:revision>
  <dcterms:created xsi:type="dcterms:W3CDTF">2024-08-29T05:25:00Z</dcterms:created>
  <dcterms:modified xsi:type="dcterms:W3CDTF">2026-10-01T05:43:29Z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